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0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Quarterly Revenue by Product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spPr>
            <a:solidFill>
              <a:srgbClr val="FFC9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78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spPr>
            <a:solidFill>
              <a:srgbClr val="4060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55</c:v>
                </c:pt>
                <c:pt idx="2">
                  <c:v>60</c:v>
                </c:pt>
                <c:pt idx="3">
                  <c:v>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Product C</c:v>
                </c:pt>
              </c:strCache>
            </c:strRef>
          </c:tx>
          <c:spPr>
            <a:solidFill>
              <a:srgbClr val="F114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</c:v>
                </c:pt>
                <c:pt idx="1">
                  <c:v>38</c:v>
                </c:pt>
                <c:pt idx="2">
                  <c:v>52</c:v>
                </c:pt>
                <c:pt idx="3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Instrument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004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Sales Rep Performance vs Target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060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Alice</c:v>
                  </c:pt>
                  <c:pt idx="1">
                    <c:v>Bob</c:v>
                  </c:pt>
                  <c:pt idx="2">
                    <c:v>Carol</c:v>
                  </c:pt>
                  <c:pt idx="3">
                    <c:v>Dave</c:v>
                  </c:pt>
                  <c:pt idx="4">
                    <c:v>Eve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70</c:v>
                </c:pt>
                <c:pt idx="4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FC9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Alice</c:v>
                  </c:pt>
                  <c:pt idx="1">
                    <c:v>Bob</c:v>
                  </c:pt>
                  <c:pt idx="2">
                    <c:v>Carol</c:v>
                  </c:pt>
                  <c:pt idx="3">
                    <c:v>Dave</c:v>
                  </c:pt>
                  <c:pt idx="4">
                    <c:v>Eve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Instrument Sans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004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Monthly Revenue by Region ($M) – Stacked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APAC</c:v>
                </c:pt>
              </c:strCache>
            </c:strRef>
          </c:tx>
          <c:spPr>
            <a:solidFill>
              <a:srgbClr val="4060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25</c:v>
                </c:pt>
                <c:pt idx="2">
                  <c:v>28</c:v>
                </c:pt>
                <c:pt idx="3">
                  <c:v>30</c:v>
                </c:pt>
                <c:pt idx="4">
                  <c:v>35</c:v>
                </c:pt>
                <c:pt idx="5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EMEA</c:v>
                </c:pt>
              </c:strCache>
            </c:strRef>
          </c:tx>
          <c:spPr>
            <a:solidFill>
              <a:srgbClr val="708A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</c:v>
                </c:pt>
                <c:pt idx="1">
                  <c:v>18</c:v>
                </c:pt>
                <c:pt idx="2">
                  <c:v>22</c:v>
                </c:pt>
                <c:pt idx="3">
                  <c:v>25</c:v>
                </c:pt>
                <c:pt idx="4">
                  <c:v>28</c:v>
                </c:pt>
                <c:pt idx="5">
                  <c:v>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AMER</c:v>
                </c:pt>
              </c:strCache>
            </c:strRef>
          </c:tx>
          <c:spPr>
            <a:solidFill>
              <a:srgbClr val="FFC9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30</c:v>
                </c:pt>
                <c:pt idx="1">
                  <c:v>35</c:v>
                </c:pt>
                <c:pt idx="2">
                  <c:v>40</c:v>
                </c:pt>
                <c:pt idx="3">
                  <c:v>38</c:v>
                </c:pt>
                <c:pt idx="4">
                  <c:v>42</c:v>
                </c:pt>
                <c:pt idx="5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Instrument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004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Sales Channel Mix – 100% Stacked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</c:v>
                </c:pt>
              </c:strCache>
            </c:strRef>
          </c:tx>
          <c:spPr>
            <a:solidFill>
              <a:srgbClr val="F114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35</c:v>
                </c:pt>
                <c:pt idx="2">
                  <c:v>30</c:v>
                </c:pt>
                <c:pt idx="3">
                  <c:v>28</c:v>
                </c:pt>
                <c:pt idx="4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36D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38</c:v>
                </c:pt>
                <c:pt idx="2">
                  <c:v>40</c:v>
                </c:pt>
                <c:pt idx="3">
                  <c:v>42</c:v>
                </c:pt>
                <c:pt idx="4">
                  <c:v>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4060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</c:v>
                </c:pt>
                <c:pt idx="1">
                  <c:v>27</c:v>
                </c:pt>
                <c:pt idx="2">
                  <c:v>30</c:v>
                </c:pt>
                <c:pt idx="3">
                  <c:v>30</c:v>
                </c:pt>
                <c:pt idx="4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Instrument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004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Regional Unit Sales – 3D Cylinder</a:t>
            </a:r>
          </a:p>
        </c:rich>
      </c:tx>
      <c:layout/>
      <c:overlay val="0"/>
    </c:title>
    <c:autoTitleDeleted val="0"/>
    <c:view3D>
      <c:rotX val="30"/>
      <c:rotY val="30"/>
      <c:rAngAx val="0"/>
      <c:perspective val="30"/>
    </c:view3D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Widgets</c:v>
                </c:pt>
              </c:strCache>
            </c:strRef>
          </c:tx>
          <c:spPr>
            <a:solidFill>
              <a:srgbClr val="4060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95</c:v>
                </c:pt>
                <c:pt idx="2">
                  <c:v>140</c:v>
                </c:pt>
                <c:pt idx="3">
                  <c:v>110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Gadgets</c:v>
                </c:pt>
              </c:strCache>
            </c:strRef>
          </c:tx>
          <c:spPr>
            <a:solidFill>
              <a:srgbClr val="F114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70</c:v>
                </c:pt>
                <c:pt idx="2">
                  <c:v>100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Instrument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gapDepth val="150"/>
        <c:shape val="cylinder"/>
        <c:axId val="2094734554"/>
        <c:axId val="2094734552"/>
        <c:axId val="2094734556"/>
      </c:bar3D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erAx>
        <c:axId val="20947345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Full-Year P&amp;L Trend ($K)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060DA"/>
            </a:solidFill>
            <a:ln w="31750" cap="flat">
              <a:solidFill>
                <a:srgbClr val="4060D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060DA"/>
              </a:solidFill>
              <a:ln w="9525" cap="flat">
                <a:solidFill>
                  <a:srgbClr val="4060D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150</c:v>
                </c:pt>
                <c:pt idx="1">
                  <c:v>180</c:v>
                </c:pt>
                <c:pt idx="2">
                  <c:v>160</c:v>
                </c:pt>
                <c:pt idx="3">
                  <c:v>200</c:v>
                </c:pt>
                <c:pt idx="4">
                  <c:v>220</c:v>
                </c:pt>
                <c:pt idx="5">
                  <c:v>250</c:v>
                </c:pt>
                <c:pt idx="6">
                  <c:v>240</c:v>
                </c:pt>
                <c:pt idx="7">
                  <c:v>270</c:v>
                </c:pt>
                <c:pt idx="8">
                  <c:v>260</c:v>
                </c:pt>
                <c:pt idx="9">
                  <c:v>300</c:v>
                </c:pt>
                <c:pt idx="10">
                  <c:v>310</c:v>
                </c:pt>
                <c:pt idx="11">
                  <c:v>340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F1140C"/>
            </a:solidFill>
            <a:ln w="31750" cap="flat">
              <a:solidFill>
                <a:srgbClr val="F114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1140C"/>
              </a:solidFill>
              <a:ln w="9525" cap="flat">
                <a:solidFill>
                  <a:srgbClr val="F114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120</c:v>
                </c:pt>
                <c:pt idx="1">
                  <c:v>130</c:v>
                </c:pt>
                <c:pt idx="2">
                  <c:v>125</c:v>
                </c:pt>
                <c:pt idx="3">
                  <c:v>140</c:v>
                </c:pt>
                <c:pt idx="4">
                  <c:v>145</c:v>
                </c:pt>
                <c:pt idx="5">
                  <c:v>155</c:v>
                </c:pt>
                <c:pt idx="6">
                  <c:v>150</c:v>
                </c:pt>
                <c:pt idx="7">
                  <c:v>160</c:v>
                </c:pt>
                <c:pt idx="8">
                  <c:v>158</c:v>
                </c:pt>
                <c:pt idx="9">
                  <c:v>165</c:v>
                </c:pt>
                <c:pt idx="10">
                  <c:v>170</c:v>
                </c:pt>
                <c:pt idx="11">
                  <c:v>175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36D01"/>
            </a:solidFill>
            <a:ln w="31750" cap="flat">
              <a:solidFill>
                <a:srgbClr val="036D0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36D01"/>
              </a:solidFill>
              <a:ln w="9525" cap="flat">
                <a:solidFill>
                  <a:srgbClr val="036D0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30</c:v>
                </c:pt>
                <c:pt idx="1">
                  <c:v>50</c:v>
                </c:pt>
                <c:pt idx="2">
                  <c:v>35</c:v>
                </c:pt>
                <c:pt idx="3">
                  <c:v>60</c:v>
                </c:pt>
                <c:pt idx="4">
                  <c:v>75</c:v>
                </c:pt>
                <c:pt idx="5">
                  <c:v>95</c:v>
                </c:pt>
                <c:pt idx="6">
                  <c:v>90</c:v>
                </c:pt>
                <c:pt idx="7">
                  <c:v>110</c:v>
                </c:pt>
                <c:pt idx="8">
                  <c:v>102</c:v>
                </c:pt>
                <c:pt idx="9">
                  <c:v>135</c:v>
                </c:pt>
                <c:pt idx="10">
                  <c:v>140</c:v>
                </c:pt>
                <c:pt idx="11">
                  <c:v>165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Instrument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004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Server Resource Utilisation (24h)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%</c:v>
                </c:pt>
              </c:strCache>
            </c:strRef>
          </c:tx>
          <c:spPr>
            <a:solidFill>
              <a:srgbClr val="FFC95A"/>
            </a:solidFill>
            <a:ln w="31750" cap="flat">
              <a:solidFill>
                <a:srgbClr val="FFC9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C95A"/>
              </a:solidFill>
              <a:ln w="9525" cap="flat">
                <a:solidFill>
                  <a:srgbClr val="FFC9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00:00</c:v>
                  </c:pt>
                  <c:pt idx="1">
                    <c:v>04:00</c:v>
                  </c:pt>
                  <c:pt idx="2">
                    <c:v>08:00</c:v>
                  </c:pt>
                  <c:pt idx="3">
                    <c:v>12:00</c:v>
                  </c:pt>
                  <c:pt idx="4">
                    <c:v>16:00</c:v>
                  </c:pt>
                  <c:pt idx="5">
                    <c:v>20:00</c:v>
                  </c:pt>
                  <c:pt idx="6">
                    <c:v>24:00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10</c:v>
                </c:pt>
                <c:pt idx="2">
                  <c:v>45</c:v>
                </c:pt>
                <c:pt idx="3">
                  <c:v>70</c:v>
                </c:pt>
                <c:pt idx="4">
                  <c:v>80</c:v>
                </c:pt>
                <c:pt idx="5">
                  <c:v>55</c:v>
                </c:pt>
                <c:pt idx="6">
                  <c:v>20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Memory %</c:v>
                </c:pt>
              </c:strCache>
            </c:strRef>
          </c:tx>
          <c:spPr>
            <a:solidFill>
              <a:srgbClr val="708AD4"/>
            </a:solidFill>
            <a:ln w="31750" cap="flat">
              <a:solidFill>
                <a:srgbClr val="708A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08AD4"/>
              </a:solidFill>
              <a:ln w="9525" cap="flat">
                <a:solidFill>
                  <a:srgbClr val="708A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00:00</c:v>
                  </c:pt>
                  <c:pt idx="1">
                    <c:v>04:00</c:v>
                  </c:pt>
                  <c:pt idx="2">
                    <c:v>08:00</c:v>
                  </c:pt>
                  <c:pt idx="3">
                    <c:v>12:00</c:v>
                  </c:pt>
                  <c:pt idx="4">
                    <c:v>16:00</c:v>
                  </c:pt>
                  <c:pt idx="5">
                    <c:v>20:00</c:v>
                  </c:pt>
                  <c:pt idx="6">
                    <c:v>24:00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</c:v>
                </c:pt>
                <c:pt idx="1">
                  <c:v>42</c:v>
                </c:pt>
                <c:pt idx="2">
                  <c:v>60</c:v>
                </c:pt>
                <c:pt idx="3">
                  <c:v>75</c:v>
                </c:pt>
                <c:pt idx="4">
                  <c:v>78</c:v>
                </c:pt>
                <c:pt idx="5">
                  <c:v>65</c:v>
                </c:pt>
                <c:pt idx="6">
                  <c:v>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Instrument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004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Weekly Active Users by Platform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4060DA">
                <a:alpha val="6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Wk1</c:v>
                  </c:pt>
                  <c:pt idx="1">
                    <c:v>Wk2</c:v>
                  </c:pt>
                  <c:pt idx="2">
                    <c:v>Wk3</c:v>
                  </c:pt>
                  <c:pt idx="3">
                    <c:v>Wk4</c:v>
                  </c:pt>
                  <c:pt idx="4">
                    <c:v>Wk5</c:v>
                  </c:pt>
                  <c:pt idx="5">
                    <c:v>Wk6</c:v>
                  </c:pt>
                  <c:pt idx="6">
                    <c:v>Wk7</c:v>
                  </c:pt>
                  <c:pt idx="7">
                    <c:v>Wk8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500</c:v>
                </c:pt>
                <c:pt idx="1">
                  <c:v>620</c:v>
                </c:pt>
                <c:pt idx="2">
                  <c:v>580</c:v>
                </c:pt>
                <c:pt idx="3">
                  <c:v>700</c:v>
                </c:pt>
                <c:pt idx="4">
                  <c:v>750</c:v>
                </c:pt>
                <c:pt idx="5">
                  <c:v>800</c:v>
                </c:pt>
                <c:pt idx="6">
                  <c:v>870</c:v>
                </c:pt>
                <c:pt idx="7">
                  <c:v>940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F1140C">
                <a:alpha val="6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Instrument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Wk1</c:v>
                  </c:pt>
                  <c:pt idx="1">
                    <c:v>Wk2</c:v>
                  </c:pt>
                  <c:pt idx="2">
                    <c:v>Wk3</c:v>
                  </c:pt>
                  <c:pt idx="3">
                    <c:v>Wk4</c:v>
                  </c:pt>
                  <c:pt idx="4">
                    <c:v>Wk5</c:v>
                  </c:pt>
                  <c:pt idx="5">
                    <c:v>Wk6</c:v>
                  </c:pt>
                  <c:pt idx="6">
                    <c:v>Wk7</c:v>
                  </c:pt>
                  <c:pt idx="7">
                    <c:v>Wk8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900</c:v>
                </c:pt>
                <c:pt idx="1">
                  <c:v>850</c:v>
                </c:pt>
                <c:pt idx="2">
                  <c:v>820</c:v>
                </c:pt>
                <c:pt idx="3">
                  <c:v>780</c:v>
                </c:pt>
                <c:pt idx="4">
                  <c:v>740</c:v>
                </c:pt>
                <c:pt idx="5">
                  <c:v>700</c:v>
                </c:pt>
                <c:pt idx="6">
                  <c:v>660</c:v>
                </c:pt>
                <c:pt idx="7">
                  <c:v>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Instrument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004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Global Market Share 2025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060DA"/>
              </a:solidFill>
              <a:effectLst/>
            </c:spPr>
          </c:dPt>
          <c:dPt>
            <c:idx val="1"/>
            <c:bubble3D val="0"/>
            <c:spPr>
              <a:solidFill>
                <a:srgbClr val="F1140C"/>
              </a:solidFill>
              <a:effectLst/>
            </c:spPr>
          </c:dPt>
          <c:dPt>
            <c:idx val="2"/>
            <c:bubble3D val="0"/>
            <c:spPr>
              <a:solidFill>
                <a:srgbClr val="FFC95A"/>
              </a:solidFill>
              <a:effectLst/>
            </c:spPr>
          </c:dPt>
          <c:dPt>
            <c:idx val="3"/>
            <c:bubble3D val="0"/>
            <c:spPr>
              <a:solidFill>
                <a:srgbClr val="708AD4"/>
              </a:solidFill>
              <a:effectLst/>
            </c:spPr>
          </c:dPt>
          <c:dPt>
            <c:idx val="4"/>
            <c:bubble3D val="0"/>
            <c:spPr>
              <a:solidFill>
                <a:srgbClr val="627CC9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Instrument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Instrument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Instrument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Instrument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Instrument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  <c:pt idx="3">
                  <c:v>Company D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26</c:v>
                </c:pt>
                <c:pt idx="2">
                  <c:v>18</c:v>
                </c:pt>
                <c:pt idx="3">
                  <c:v>10</c:v>
                </c:pt>
                <c:pt idx="4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Annual Budget Allocation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060DA"/>
              </a:solidFill>
              <a:effectLst/>
            </c:spPr>
          </c:dPt>
          <c:dPt>
            <c:idx val="1"/>
            <c:bubble3D val="0"/>
            <c:spPr>
              <a:solidFill>
                <a:srgbClr val="FFC95A"/>
              </a:solidFill>
              <a:effectLst/>
            </c:spPr>
          </c:dPt>
          <c:dPt>
            <c:idx val="2"/>
            <c:bubble3D val="0"/>
            <c:spPr>
              <a:solidFill>
                <a:srgbClr val="F1140C"/>
              </a:solidFill>
              <a:effectLst/>
            </c:spPr>
          </c:dPt>
          <c:dPt>
            <c:idx val="3"/>
            <c:bubble3D val="0"/>
            <c:spPr>
              <a:solidFill>
                <a:srgbClr val="708AD4"/>
              </a:solidFill>
              <a:effectLst/>
            </c:spPr>
          </c:dPt>
          <c:dPt>
            <c:idx val="4"/>
            <c:bubble3D val="0"/>
            <c:spPr>
              <a:solidFill>
                <a:srgbClr val="036D0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Instrument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Instrument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Instrument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Instrument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Instrument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R&amp;D</c:v>
                </c:pt>
                <c:pt idx="1">
                  <c:v>Sales</c:v>
                </c:pt>
                <c:pt idx="2">
                  <c:v>Marketing</c:v>
                </c:pt>
                <c:pt idx="3">
                  <c:v>Operations</c:v>
                </c:pt>
                <c:pt idx="4">
                  <c:v>HR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Scatter: Engagement vs Conversion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Group B</c:v>
                </c:pt>
              </c:strCache>
            </c:strRef>
          </c:tx>
          <c:spPr>
            <a:solidFill>
              <a:srgbClr val="4060DA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4060DA"/>
              </a:solidFill>
              <a:ln w="9525" cap="flat">
                <a:solidFill>
                  <a:srgbClr val="4060DA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14</c:v>
                </c:pt>
                <c:pt idx="1">
                  <c:v>18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15</c:v>
                </c:pt>
                <c:pt idx="6">
                  <c:v>22</c:v>
                </c:pt>
                <c:pt idx="7">
                  <c:v>28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12</c:v>
                </c:pt>
                <c:pt idx="2">
                  <c:v>16</c:v>
                </c:pt>
                <c:pt idx="3">
                  <c:v>22</c:v>
                </c:pt>
                <c:pt idx="4">
                  <c:v>28</c:v>
                </c:pt>
                <c:pt idx="5">
                  <c:v>35</c:v>
                </c:pt>
                <c:pt idx="6">
                  <c:v>18</c:v>
                </c:pt>
                <c:pt idx="7">
                  <c:v>24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Instrument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16004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Bubble: Market Size vs Growth</a:t>
            </a:r>
          </a:p>
        </c:rich>
      </c:tx>
      <c:layout/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Segment Y</c:v>
                </c:pt>
              </c:strCache>
            </c:strRef>
          </c:tx>
          <c:spPr>
            <a:solidFill>
              <a:srgbClr val="708AD4">
                <a:alpha val="70000"/>
              </a:srgbClr>
            </a:solidFill>
            <a:ln>
              <a:noFill/>
            </a:ln>
            <a:effectLst/>
          </c:spPr>
          <c:xVal>
            <c:numRef>
              <c:f>Sheet1!$A$2:$A$6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15</c:v>
                </c:pt>
                <c:pt idx="4">
                  <c:v>25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18</c:v>
                </c:pt>
                <c:pt idx="2">
                  <c:v>28</c:v>
                </c:pt>
                <c:pt idx="3">
                  <c:v>12</c:v>
                </c:pt>
                <c:pt idx="4">
                  <c:v>35</c:v>
                </c:pt>
              </c:numCache>
            </c:numRef>
          </c:yVal>
          <c:bubbleSize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10</c:v>
                </c:pt>
                <c:pt idx="2">
                  <c:v>35</c:v>
                </c:pt>
                <c:pt idx="3">
                  <c:v>15</c:v>
                </c:pt>
                <c:pt idx="4">
                  <c:v>25</c:v>
                </c:pt>
              </c:numCache>
            </c:numRef>
          </c:bubbleSize>
          <c:bubble3D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Instrument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LeaderLines val="0"/>
            </c:ext>
          </c:extLst>
        </c:dLbls>
        <c:axId val="2094734554"/>
        <c:axId val="2094734552"/>
      </c:bubble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004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Employee Skill Assessment Radar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Alice</c:v>
                </c:pt>
              </c:strCache>
            </c:strRef>
          </c:tx>
          <c:spPr>
            <a:solidFill>
              <a:srgbClr val="4060DA">
                <a:alpha val="30000"/>
              </a:srgbClr>
            </a:solidFill>
            <a:ln w="25400" cap="flat">
              <a:solidFill>
                <a:srgbClr val="4060D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7"/>
            <c:spPr>
              <a:solidFill>
                <a:srgbClr val="4060DA"/>
              </a:solidFill>
              <a:ln w="9525" cap="flat">
                <a:solidFill>
                  <a:srgbClr val="4060D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Communication</c:v>
                  </c:pt>
                  <c:pt idx="1">
                    <c:v>Leadership</c:v>
                  </c:pt>
                  <c:pt idx="2">
                    <c:v>Technical</c:v>
                  </c:pt>
                  <c:pt idx="3">
                    <c:v>Creativity</c:v>
                  </c:pt>
                  <c:pt idx="4">
                    <c:v>Teamwork</c:v>
                  </c:pt>
                  <c:pt idx="5">
                    <c:v>Delivery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75</c:v>
                </c:pt>
                <c:pt idx="2">
                  <c:v>85</c:v>
                </c:pt>
                <c:pt idx="3">
                  <c:v>70</c:v>
                </c:pt>
                <c:pt idx="4">
                  <c:v>95</c:v>
                </c:pt>
                <c:pt idx="5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Bob</c:v>
                </c:pt>
              </c:strCache>
            </c:strRef>
          </c:tx>
          <c:spPr>
            <a:solidFill>
              <a:srgbClr val="F1140C">
                <a:alpha val="30000"/>
              </a:srgbClr>
            </a:solidFill>
            <a:ln w="25400" cap="flat">
              <a:solidFill>
                <a:srgbClr val="F1140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7"/>
            <c:spPr>
              <a:solidFill>
                <a:srgbClr val="F1140C"/>
              </a:solidFill>
              <a:ln w="9525" cap="flat">
                <a:solidFill>
                  <a:srgbClr val="F114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Communication</c:v>
                  </c:pt>
                  <c:pt idx="1">
                    <c:v>Leadership</c:v>
                  </c:pt>
                  <c:pt idx="2">
                    <c:v>Technical</c:v>
                  </c:pt>
                  <c:pt idx="3">
                    <c:v>Creativity</c:v>
                  </c:pt>
                  <c:pt idx="4">
                    <c:v>Teamwork</c:v>
                  </c:pt>
                  <c:pt idx="5">
                    <c:v>Delivery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</c:v>
                </c:pt>
                <c:pt idx="1">
                  <c:v>85</c:v>
                </c:pt>
                <c:pt idx="2">
                  <c:v>90</c:v>
                </c:pt>
                <c:pt idx="3">
                  <c:v>65</c:v>
                </c:pt>
                <c:pt idx="4">
                  <c:v>75</c:v>
                </c:pt>
                <c:pt idx="5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Empirica NYCMayor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Empirica NYCMayor"/>
              </a:rPr>
              <a:t>Revenue vs Expenses with Growth Rate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4060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23</c:v>
                  </c:pt>
                  <c:pt idx="1">
                    <c:v>Q2 23</c:v>
                  </c:pt>
                  <c:pt idx="2">
                    <c:v>Q3 23</c:v>
                  </c:pt>
                  <c:pt idx="3">
                    <c:v>Q4 23</c:v>
                  </c:pt>
                  <c:pt idx="4">
                    <c:v>Q1 24</c:v>
                  </c:pt>
                  <c:pt idx="5">
                    <c:v>Q2 24</c:v>
                  </c:pt>
                  <c:pt idx="6">
                    <c:v>Q3 24</c:v>
                  </c:pt>
                  <c:pt idx="7">
                    <c:v>Q4 24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4.2</c:v>
                </c:pt>
                <c:pt idx="1">
                  <c:v>5.1</c:v>
                </c:pt>
                <c:pt idx="2">
                  <c:v>4.8</c:v>
                </c:pt>
                <c:pt idx="3">
                  <c:v>6.3</c:v>
                </c:pt>
                <c:pt idx="4">
                  <c:v>5.5</c:v>
                </c:pt>
                <c:pt idx="5">
                  <c:v>6.8</c:v>
                </c:pt>
                <c:pt idx="6">
                  <c:v>7.1</c:v>
                </c:pt>
                <c:pt idx="7">
                  <c:v>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 ($M)</c:v>
                </c:pt>
              </c:strCache>
            </c:strRef>
          </c:tx>
          <c:spPr>
            <a:solidFill>
              <a:srgbClr val="F114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23</c:v>
                  </c:pt>
                  <c:pt idx="1">
                    <c:v>Q2 23</c:v>
                  </c:pt>
                  <c:pt idx="2">
                    <c:v>Q3 23</c:v>
                  </c:pt>
                  <c:pt idx="3">
                    <c:v>Q4 23</c:v>
                  </c:pt>
                  <c:pt idx="4">
                    <c:v>Q1 24</c:v>
                  </c:pt>
                  <c:pt idx="5">
                    <c:v>Q2 24</c:v>
                  </c:pt>
                  <c:pt idx="6">
                    <c:v>Q3 24</c:v>
                  </c:pt>
                  <c:pt idx="7">
                    <c:v>Q4 24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3.1</c:v>
                </c:pt>
                <c:pt idx="1">
                  <c:v>3.5</c:v>
                </c:pt>
                <c:pt idx="2">
                  <c:v>3.3</c:v>
                </c:pt>
                <c:pt idx="3">
                  <c:v>4</c:v>
                </c:pt>
                <c:pt idx="4">
                  <c:v>3.8</c:v>
                </c:pt>
                <c:pt idx="5">
                  <c:v>4.2</c:v>
                </c:pt>
                <c:pt idx="6">
                  <c:v>4.5</c:v>
                </c:pt>
                <c:pt idx="7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Growth %</c:v>
                </c:pt>
              </c:strCache>
            </c:strRef>
          </c:tx>
          <c:spPr>
            <a:solidFill>
              <a:srgbClr val="FFC95A"/>
            </a:solidFill>
            <a:ln w="31750" cap="flat">
              <a:solidFill>
                <a:srgbClr val="FFC9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8"/>
            <c:spPr>
              <a:solidFill>
                <a:srgbClr val="FFC95A"/>
              </a:solidFill>
              <a:ln w="9525" cap="flat">
                <a:solidFill>
                  <a:srgbClr val="FFC9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23</c:v>
                  </c:pt>
                  <c:pt idx="1">
                    <c:v>Q2 23</c:v>
                  </c:pt>
                  <c:pt idx="2">
                    <c:v>Q3 23</c:v>
                  </c:pt>
                  <c:pt idx="3">
                    <c:v>Q4 23</c:v>
                  </c:pt>
                  <c:pt idx="4">
                    <c:v>Q1 24</c:v>
                  </c:pt>
                  <c:pt idx="5">
                    <c:v>Q2 24</c:v>
                  </c:pt>
                  <c:pt idx="6">
                    <c:v>Q3 24</c:v>
                  </c:pt>
                  <c:pt idx="7">
                    <c:v>Q4 24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12</c:v>
                </c:pt>
                <c:pt idx="4">
                  <c:v>9</c:v>
                </c:pt>
                <c:pt idx="5">
                  <c:v>14</c:v>
                </c:pt>
                <c:pt idx="6">
                  <c:v>16</c:v>
                </c:pt>
                <c:pt idx="7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E8EFFF"/>
                    </a:solidFill>
                    <a:latin typeface="Instrument Sans"/>
                  </a:defRPr>
                </a:pPr>
                <a:r>
                  <a:rPr b="0" i="0" u="none" strike="noStrike">
                    <a:solidFill>
                      <a:srgbClr val="E8EFFF"/>
                    </a:solidFill>
                    <a:latin typeface="Instrument Sans"/>
                  </a:rPr>
                  <a:t>Revenue / Expenses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majorGridlines>
          <c:spPr>
            <a:ln w="12700" cap="flat">
              <a:solidFill>
                <a:srgbClr val="627CC9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FFC95A"/>
                    </a:solidFill>
                    <a:latin typeface="Instrument Sans"/>
                  </a:defRPr>
                </a:pPr>
                <a:r>
                  <a:rPr b="0" i="0" u="none" strike="noStrike">
                    <a:solidFill>
                      <a:srgbClr val="FFC95A"/>
                    </a:solidFill>
                    <a:latin typeface="Instrument Sans"/>
                  </a:rPr>
                  <a:t>YoY Growth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C95A"/>
                </a:solidFill>
                <a:latin typeface="Instrument Sans"/>
              </a:defRPr>
            </a:pPr>
            <a:endParaRPr lang="en-US"/>
          </a:p>
        </c:txPr>
        <c:crossAx val="2094734555"/>
        <c:crosses val="max"/>
        <c:crossBetween val="between"/>
        <c:majorUnit val="5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F"/>
                </a:solidFill>
                <a:latin typeface="Instrument Sans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16004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11003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ASTER">
    <p:bg>
      <p:bgPr>
        <a:solidFill>
          <a:srgbClr val="110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114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1140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6E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Presentation Title</a:t>
            </a:r>
            <a:endParaRPr lang="en-US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914400" y="3474720"/>
            <a:ext cx="10332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Subtitle / 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MASTER">
    <p:bg>
      <p:bgPr>
        <a:solidFill>
          <a:srgbClr val="120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1140C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SECTION</a:t>
            </a:r>
            <a:endParaRPr lang="en-US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Section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110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00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F1140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2006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105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6E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tokens-ppt  |  Confidential</a:t>
            </a:r>
            <a:endParaRPr lang="en-US" sz="9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274320" y="54864"/>
            <a:ext cx="113385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Title</a:t>
            </a:r>
            <a:endParaRPr lang="en-US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365760" y="914400"/>
            <a:ext cx="11430000" cy="5394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Content goes here…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_MASTER">
    <p:bg>
      <p:bgPr>
        <a:solidFill>
          <a:srgbClr val="110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510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6E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tokens-ppt  ·  Chart Showcase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Combined Slide Deck</a:t>
            </a:r>
            <a:endParaRPr lang="en-US" sz="3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14400" y="3474720"/>
            <a:ext cx="103327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i="1" dirty="0">
                <a:solidFill>
                  <a:srgbClr val="F114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Overview · Charts · May 2026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114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Overview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274320" y="54864"/>
            <a:ext cx="11338560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What is PptxGenJS?</a:t>
            </a:r>
            <a:endParaRPr lang="en-US" sz="22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365760" y="914400"/>
            <a:ext cx="1143000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8EFFF"/>
                </a:solidFill>
                <a:latin typeface="Empirica Text" pitchFamily="34" charset="0"/>
                <a:ea typeface="Empirica Text" pitchFamily="34" charset="-122"/>
                <a:cs typeface="Empirica Text" pitchFamily="34" charset="-120"/>
              </a:rPr>
              <a:t>JavaScript library to create PowerPoint files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8EFFF"/>
                </a:solidFill>
                <a:latin typeface="Empirica Text" pitchFamily="34" charset="0"/>
                <a:ea typeface="Empirica Text" pitchFamily="34" charset="-122"/>
                <a:cs typeface="Empirica Text" pitchFamily="34" charset="-120"/>
              </a:rPr>
              <a:t>Works in Node.js, browsers, and React Native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8EFFF"/>
                </a:solidFill>
                <a:latin typeface="Empirica Text" pitchFamily="34" charset="0"/>
                <a:ea typeface="Empirica Text" pitchFamily="34" charset="-122"/>
                <a:cs typeface="Empirica Text" pitchFamily="34" charset="-120"/>
              </a:rPr>
              <a:t>Supports charts, tables, images, shapes &amp; more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8EFFF"/>
                </a:solidFill>
                <a:latin typeface="Empirica Text" pitchFamily="34" charset="0"/>
                <a:ea typeface="Empirica Text" pitchFamily="34" charset="-122"/>
                <a:cs typeface="Empirica Text" pitchFamily="34" charset="-120"/>
              </a:rPr>
              <a:t>Fully typed with TypeScript definitions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8EFFF"/>
                </a:solidFill>
                <a:latin typeface="Empirica Text" pitchFamily="34" charset="0"/>
                <a:ea typeface="Empirica Text" pitchFamily="34" charset="-122"/>
                <a:cs typeface="Empirica Text" pitchFamily="34" charset="-120"/>
              </a:rPr>
              <a:t>MIT licensed — free for personal and commercial use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274320" y="54864"/>
            <a:ext cx="11338560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Feature Comparison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Feature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0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PptxGenJS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0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 libs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06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8E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Charts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36D0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✔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8E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Partial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8E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Tables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36D0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✔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36D0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✔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8E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Slide Masters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36D0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✔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1140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✘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8E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TypeScript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36D0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✔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8E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Partial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8E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Browser Support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36D0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✔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8E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Node only</a:t>
                      </a:r>
                      <a:endParaRPr lang="en-US" sz="16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7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4C"/>
                    </a:solidFill>
                  </a:tcPr>
                </a:tc>
              </a:tr>
            </a:tbl>
          </a:graphicData>
        </a:graphic>
      </p:graphicFrame>
      <p:sp>
        <p:nvSpPr>
          <p:cNvPr id="4" name="Text 4"/>
          <p:cNvSpPr/>
          <p:nvPr>
            <p:ph idx="105" type="body" hasCustomPrompt="1"/>
          </p:nvPr>
        </p:nvSpPr>
        <p:spPr>
          <a:xfrm>
            <a:off x="365760" y="914400"/>
            <a:ext cx="11430000" cy="5394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114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Chart Showcase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1 · Clustered Column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2 · Horizontal Bar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3 · Stacked Column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4 · 100% Stacked Column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5 · 3D Bar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6 · Line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7 · Smooth Line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8 · Area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9 · Pie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10 · Doughnut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11 · Scatter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12 · Bubble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13 · Radar Chart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274320" y="54864"/>
            <a:ext cx="11338560" cy="5212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14 · Combo Chart (Bar + Line, dual axis)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114300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Empirica NYCMayor" pitchFamily="34" charset="0"/>
                <a:ea typeface="Empirica NYCMayor" pitchFamily="34" charset="-122"/>
                <a:cs typeface="Empirica NYCMayor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14400" y="3474720"/>
            <a:ext cx="103327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i="1" dirty="0">
                <a:solidFill>
                  <a:srgbClr val="F114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Questions?  reach@democorp.io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A6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Combined Deck</dc:title>
  <dc:subject>PptxGenJS Presentation</dc:subject>
  <dc:creator>tokens-ppt</dc:creator>
  <cp:lastModifiedBy>tokens-ppt</cp:lastModifiedBy>
  <cp:revision>1</cp:revision>
  <dcterms:created xsi:type="dcterms:W3CDTF">2026-05-12T18:49:30Z</dcterms:created>
  <dcterms:modified xsi:type="dcterms:W3CDTF">2026-05-12T18:49:30Z</dcterms:modified>
</cp:coreProperties>
</file>